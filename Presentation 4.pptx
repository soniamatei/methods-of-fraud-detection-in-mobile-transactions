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61" r:id="rId7"/>
    <p:sldId id="295" r:id="rId8"/>
    <p:sldId id="289" r:id="rId9"/>
    <p:sldId id="264" r:id="rId10"/>
    <p:sldId id="296" r:id="rId11"/>
    <p:sldId id="293" r:id="rId12"/>
    <p:sldId id="283" r:id="rId13"/>
    <p:sldId id="297" r:id="rId14"/>
    <p:sldId id="298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CDC4A-6733-6B41-CD57-F47C8CD7B249}" v="102" dt="2024-12-17T15:52:49.460"/>
    <p1510:client id="{3A7F5F1D-D37E-8EFB-78AA-B266471EEED9}" v="571" dt="2024-12-17T17:07:30.151"/>
    <p1510:client id="{8571EDD9-B2C7-E74F-F95E-E36CB939486C}" v="396" dt="2024-12-17T19:02:24.101"/>
    <p1510:client id="{968A8C41-EF33-3D15-BC94-1612D8CB916B}" v="167" dt="2024-12-17T15:30:30.535"/>
    <p1510:client id="{9880BF01-07AE-1442-69ED-94D81706AE02}" v="75" dt="2024-12-17T15:41:00.571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>
        <p:scale>
          <a:sx n="100" d="100"/>
          <a:sy n="100" d="100"/>
        </p:scale>
        <p:origin x="-53" y="-53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12/17/2024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7T18:00:44.4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6232 17473 16383 0 0,'-6'0'0'0'0,"-6"0"0"0"0,-7 0 0 0 0,-5 0 0 0 0,-14 0 0 0 0,-6 0 0 0 0,-1 0 0 0 0,3 0 0 0 0,-3 0 0 0 0,1 0 0 0 0,4 0 0 0 0,2 0 0 0 0,3 0 0 0 0,3 0 0 0 0,0 0 0 0 0,2 0 0 0 0,0 0 0 0 0,-1 0 0 0 0,1 0 0 0 0,0 0 0 0 0,0 0 0 0 0,-1 0 0 0 0,1 0 0 0 0,-1 0 0 0 0,0 0 0 0 0,-10-5 0 0 0,-3-2 0 0 0,0-5 0 0 0,2 0 0 0 0,4 1 0 0 0,3 4 0 0 0,1-4 0 0 0,3 2 0 0 0,0 1 0 0 0,1 2 0 0 0,0-3 0 0 0,0 1 0 0 0,10 0 0 0 0,14 3 0 0 0,13 1 0 0 0,11 3 0 0 0,7 0 0 0 0,5 1 0 0 0,2 0 0 0 0,1 0 0 0 0,6 1 0 0 0,1-1 0 0 0,-2 0 0 0 0,5 0 0 0 0,-1 0 0 0 0,-2 0 0 0 0,-3 0 0 0 0,-2 0 0 0 0,3 0 0 0 0,1 0 0 0 0,-2 0 0 0 0,-1 0 0 0 0,-2 0 0 0 0,-2 0 0 0 0,0 0 0 0 0,-2 0 0 0 0,1 0 0 0 0,-1 0 0 0 0,1 0 0 0 0,9 0 0 0 0,5 0 0 0 0,-1 0 0 0 0,-3 0 0 0 0,-3 0 0 0 0,-3 0 0 0 0,-1 0 0 0 0,-3 0 0 0 0,5 0 0 0 0,1 0 0 0 0,5 0 0 0 0,1 0 0 0 0,-3 0 0 0 0,-12 0 0 0 0,-38 0 0 0 0,-22 0 0 0 0,-10 0 0 0 0,-4 0 0 0 0,-15 0 0 0 0,-2 0 0 0 0,-7 0 0 0 0,5 0 0 0 0,-4 0 0 0 0,6 0 0 0 0,3-5 0 0 0,6-2 0 0 0,2-5 0 0 0,4 0 0 0 0,6 2 0 0 0,5 2 0 0 0,-3-2 0 0 0,1 0 0 0 0,-3 2 0 0 0,0-3 0 0 0,2 1 0 0 0,2 1 0 0 0,14 3 0 0 0,25 2 0 0 0,19 2 0 0 0,11 2 0 0 0,5 0 0 0 0,2 0 0 0 0,5 0 0 0 0,0 1 0 0 0,-2-1 0 0 0,-2 0 0 0 0,-4 1 0 0 0,4-1 0 0 0,0 0 0 0 0,-1-6 0 0 0,-3 0 0 0 0,-1-1 0 0 0,-1 2 0 0 0,-2 1 0 0 0,10 1 0 0 0,4 2 0 0 0,-2 1 0 0 0,-2 0 0 0 0,-3 0 0 0 0,-3 0 0 0 0,-2 0 0 0 0,-1 1 0 0 0,-7 4 0 0 0,-1 2 0 0 0,-1 0 0 0 0,-8-2 0 0 0,-24-1 0 0 0,-14-2 0 0 0,-9-1 0 0 0,-10 0 0 0 0,-2-1 0 0 0,0-5 0 0 0,3-3 0 0 0,4 1 0 0 0,7-3 0 0 0,4-1 0 0 0,1 2 0 0 0,0 2 0 0 0,-2 3 0 0 0,-6-4 0 0 0,-3 0 0 0 0,0 1 0 0 0,0 2 0 0 0,-3 2 0 0 0,-2 1 0 0 0,3 1 0 0 0,6-4 0 0 0,-1-2 0 0 0,0 1 0 0 0,0 1 0 0 0,0 1 0 0 0,12 2 0 0 0,30 1 0 0 0,18 1 0 0 0,10 0 0 0 0,4 0 0 0 0,1 0 0 0 0,2 0 0 0 0,0 1 0 0 0,-2-1 0 0 0,-4 0 0 0 0,-2 0 0 0 0,-3 0 0 0 0,4 0 0 0 0,1 0 0 0 0,-2 0 0 0 0,0 0 0 0 0,3 0 0 0 0,0 0 0 0 0,0 0 0 0 0,-14 0 0 0 0,-30 0 0 0 0,-21 0 0 0 0,-10 0 0 0 0,-5 0 0 0 0,0 0 0 0 0,1 0 0 0 0,2 0 0 0 0,8-5 0 0 0,4-2 0 0 0,1 0 0 0 0,-1-3 0 0 0,-6-1 0 0 0,-2 2 0 0 0,-2 2 0 0 0,1 3 0 0 0,1 2 0 0 0,1 1 0 0 0,6-5 0 0 0,2 0 0 0 0,1-1 0 0 0,-1 3 0 0 0,-2 0 0 0 0,-1 2 0 0 0,-1 1 0 0 0,9 1 0 0 0,19 0 0 0 0,15 0 0 0 0,10 0 0 0 0,11 0 0 0 0,5 1 0 0 0,1-1 0 0 0,-1 0 0 0 0,-2 0 0 0 0,2 0 0 0 0,1 0 0 0 0,-3 0 0 0 0,-2 0 0 0 0,-1 0 0 0 0,-3 0 0 0 0,0 0 0 0 0,4 0 0 0 0,1 0 0 0 0,0 0 0 0 0,4 0 0 0 0,0 0 0 0 0,-2 0 0 0 0,14 0 0 0 0,3 0 0 0 0,-3 0 0 0 0,-6 0 0 0 0,1 0 0 0 0,-9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17T18:00:44.4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5663 17207 16383 0 0,'5'0'0'0'0,"7"0"0"0"0,7 0 0 0 0,5 5 0 0 0,4 2 0 0 0,13 0 0 0 0,4 3 0 0 0,0 1 0 0 0,14 3 0 0 0,1 0 0 0 0,-4 2 0 0 0,-1-2 0 0 0,-5-2 0 0 0,-5-4 0 0 0,-6-3 0 0 0,1-3 0 0 0,0 4 0 0 0,-3 1 0 0 0,-2-1 0 0 0,-1-2 0 0 0,-13 0 0 0 0,-24-3 0 0 0,-18 0 0 0 0,-10 0 0 0 0,-5-1 0 0 0,-2-1 0 0 0,-15 1 0 0 0,-4 0 0 0 0,3 0 0 0 0,5-1 0 0 0,11-4 0 0 0,6-2 0 0 0,4 0 0 0 0,2 2 0 0 0,-27-4 0 0 0,-9 0 0 0 0,1 1 0 0 0,5 2 0 0 0,7-3 0 0 0,7 0 0 0 0,-5 2 0 0 0,0 1 0 0 0,2 2 0 0 0,5 2 0 0 0,3 2 0 0 0,3-1 0 0 0,2 2 0 0 0,6-6 0 0 0,3-2 0 0 0,0 1 0 0 0,3-4 0 0 0,6-6 0 0 0,10-5 0 0 0,11 1 0 0 0,10 4 0 0 0,12 4 0 0 0,6 5 0 0 0,3 3 0 0 0,5 3 0 0 0,1 0 0 0 0,-3 2 0 0 0,3 0 0 0 0,-1 0 0 0 0,-2 0 0 0 0,1-1 0 0 0,0 0 0 0 0,-3 1 0 0 0,-2-1 0 0 0,-3 0 0 0 0,-1 0 0 0 0,4 5 0 0 0,0 2 0 0 0,5-1 0 0 0,1 0 0 0 0,-3-3 0 0 0,-2 0 0 0 0,-7-7 0 0 0,-10-3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12/17/2024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701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customXml" Target="../ink/ink1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193" y="4463777"/>
            <a:ext cx="10275770" cy="1122202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Methods of Fraud Detection in Mobile Transactions: Gradient Boosting and Isolation Forest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9839" y="5586890"/>
            <a:ext cx="10487972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Matei Sonia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5D21D2-BFB9-C653-E5A8-C2F830EBC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508539"/>
            <a:ext cx="5457825" cy="45051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Simulates mobile money transactions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6 million records 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features: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Transaction type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Amount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Time information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Origin and destination account balances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b="1" dirty="0"/>
              <a:t>The balance of account before and after transactions (information leakage)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Indicator of whether a transaction is fraudulent</a:t>
            </a:r>
            <a:endParaRPr lang="en-US" b="1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0501C5B-A2BB-54D3-C86D-0C9D20DBC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5457825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Synthetic Financial Mobile Money Transactions Dataset</a:t>
            </a:r>
            <a:br>
              <a:rPr lang="en-US" dirty="0">
                <a:ea typeface="+mj-lt"/>
                <a:cs typeface="+mj-lt"/>
              </a:rPr>
            </a:br>
            <a:r>
              <a:rPr lang="en-US" dirty="0"/>
              <a:t>(</a:t>
            </a:r>
            <a:r>
              <a:rPr lang="en-US" dirty="0" err="1"/>
              <a:t>PaySym</a:t>
            </a:r>
            <a:r>
              <a:rPr lang="en-US" dirty="0"/>
              <a:t> Dataset)</a:t>
            </a:r>
          </a:p>
        </p:txBody>
      </p:sp>
      <p:pic>
        <p:nvPicPr>
          <p:cNvPr id="13" name="Picture 12" descr="A graph of a heatmap&#10;&#10;Description automatically generated">
            <a:extLst>
              <a:ext uri="{FF2B5EF4-FFF2-40B4-BE49-F238E27FC236}">
                <a16:creationId xmlns:a16="http://schemas.microsoft.com/office/drawing/2014/main" id="{8CAF2F71-92BA-4563-A399-91F5D6E8F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31" y="1686640"/>
            <a:ext cx="4653966" cy="416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 descr="A comparison of a graph&#10;&#10;Description automatically generated">
            <a:extLst>
              <a:ext uri="{FF2B5EF4-FFF2-40B4-BE49-F238E27FC236}">
                <a16:creationId xmlns:a16="http://schemas.microsoft.com/office/drawing/2014/main" id="{D2FBC258-AAA5-F37D-6CCA-D16AB281AD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3" t="107" r="50067"/>
          <a:stretch/>
        </p:blipFill>
        <p:spPr>
          <a:xfrm>
            <a:off x="10439" y="31316"/>
            <a:ext cx="4162039" cy="2756898"/>
          </a:xfrm>
          <a:prstGeom prst="rect">
            <a:avLst/>
          </a:prstGeom>
        </p:spPr>
      </p:pic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A9EE7CB6-DDC5-3C86-CBCA-146009F75E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" r="49777" b="49988"/>
          <a:stretch/>
        </p:blipFill>
        <p:spPr>
          <a:xfrm>
            <a:off x="11775" y="3545029"/>
            <a:ext cx="4172693" cy="2814139"/>
          </a:xfrm>
          <a:prstGeom prst="rect">
            <a:avLst/>
          </a:prstGeom>
        </p:spPr>
      </p:pic>
      <p:pic>
        <p:nvPicPr>
          <p:cNvPr id="7" name="Picture 6" descr="A diagram of a box plot&#10;&#10;Description automatically generated">
            <a:extLst>
              <a:ext uri="{FF2B5EF4-FFF2-40B4-BE49-F238E27FC236}">
                <a16:creationId xmlns:a16="http://schemas.microsoft.com/office/drawing/2014/main" id="{E580B489-2BE6-4925-33F5-63AB18F74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2083" y="1921701"/>
            <a:ext cx="4310244" cy="2705342"/>
          </a:xfrm>
          <a:prstGeom prst="rect">
            <a:avLst/>
          </a:prstGeom>
        </p:spPr>
      </p:pic>
      <p:pic>
        <p:nvPicPr>
          <p:cNvPr id="8" name="Picture 7" descr="A diagram of a box&#10;&#10;Description automatically generated">
            <a:extLst>
              <a:ext uri="{FF2B5EF4-FFF2-40B4-BE49-F238E27FC236}">
                <a16:creationId xmlns:a16="http://schemas.microsoft.com/office/drawing/2014/main" id="{4CC83473-4DD7-1C7F-0A9F-E5093C117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7965" y="3513655"/>
            <a:ext cx="4272265" cy="28722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B583B2-4FE2-ED73-3DBB-2BDE59B7D3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9743" y="3353"/>
            <a:ext cx="4125677" cy="2808068"/>
          </a:xfrm>
          <a:prstGeom prst="rect">
            <a:avLst/>
          </a:prstGeom>
        </p:spPr>
      </p:pic>
      <p:sp>
        <p:nvSpPr>
          <p:cNvPr id="3" name="Title 9">
            <a:extLst>
              <a:ext uri="{FF2B5EF4-FFF2-40B4-BE49-F238E27FC236}">
                <a16:creationId xmlns:a16="http://schemas.microsoft.com/office/drawing/2014/main" id="{94ECB715-9AEF-A420-94A2-23768804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527" y="571595"/>
            <a:ext cx="2169743" cy="511372"/>
          </a:xfrm>
        </p:spPr>
        <p:txBody>
          <a:bodyPr>
            <a:normAutofit/>
          </a:bodyPr>
          <a:lstStyle/>
          <a:p>
            <a:r>
              <a:rPr lang="en-US"/>
              <a:t>Boxplots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7F34DD0-52DA-E45C-35F9-D28D231A7915}"/>
              </a:ext>
            </a:extLst>
          </p:cNvPr>
          <p:cNvSpPr txBox="1">
            <a:spLocks/>
          </p:cNvSpPr>
          <p:nvPr/>
        </p:nvSpPr>
        <p:spPr>
          <a:xfrm>
            <a:off x="4795331" y="4622142"/>
            <a:ext cx="2850914" cy="505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Only two types of transactions are fraudulent.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FCDCE7-ED33-3E79-46B9-D3CC484EB94B}"/>
              </a:ext>
            </a:extLst>
          </p:cNvPr>
          <p:cNvSpPr txBox="1">
            <a:spLocks/>
          </p:cNvSpPr>
          <p:nvPr/>
        </p:nvSpPr>
        <p:spPr>
          <a:xfrm>
            <a:off x="8704722" y="2822055"/>
            <a:ext cx="2850914" cy="5052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Fraudulent transactions have lower amounts compared to non-fraudulent ones.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CFCDA7-B51B-F50D-ED89-420997E37DEC}"/>
              </a:ext>
            </a:extLst>
          </p:cNvPr>
          <p:cNvSpPr txBox="1">
            <a:spLocks/>
          </p:cNvSpPr>
          <p:nvPr/>
        </p:nvSpPr>
        <p:spPr>
          <a:xfrm>
            <a:off x="1338721" y="6389098"/>
            <a:ext cx="3966306" cy="4721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Originating account name does not strongly differentiate fraud from non-fraud.</a:t>
            </a:r>
            <a:endParaRPr lang="en-US" dirty="0">
              <a:ea typeface="+mn-lt"/>
              <a:cs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0F3221-AE70-3FA8-4AFC-981F30FD736E}"/>
                  </a:ext>
                </a:extLst>
              </p14:cNvPr>
              <p14:cNvContentPartPr/>
              <p14:nvPr/>
            </p14:nvContentPartPr>
            <p14:xfrm>
              <a:off x="784804" y="6493103"/>
              <a:ext cx="490707" cy="166113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0F3221-AE70-3FA8-4AFC-981F30FD73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7176" y="6475485"/>
                <a:ext cx="526323" cy="201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8FFCC6A-A640-78E3-F6D4-DE9C065E5AFE}"/>
                  </a:ext>
                </a:extLst>
              </p14:cNvPr>
              <p14:cNvContentPartPr/>
              <p14:nvPr/>
            </p14:nvContentPartPr>
            <p14:xfrm>
              <a:off x="908474" y="6547321"/>
              <a:ext cx="425229" cy="79244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8FFCC6A-A640-78E3-F6D4-DE9C065E5A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0486" y="6529392"/>
                <a:ext cx="460845" cy="114742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73C5431D-EB48-50B9-292D-D47A28109CDD}"/>
              </a:ext>
            </a:extLst>
          </p:cNvPr>
          <p:cNvSpPr txBox="1">
            <a:spLocks/>
          </p:cNvSpPr>
          <p:nvPr/>
        </p:nvSpPr>
        <p:spPr>
          <a:xfrm>
            <a:off x="7478895" y="6422228"/>
            <a:ext cx="3966306" cy="4721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Fraud is concentrated toward a smaller set of destination accounts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10C6FCB-AFF7-B29D-D958-748C7246CA3E}"/>
              </a:ext>
            </a:extLst>
          </p:cNvPr>
          <p:cNvSpPr txBox="1">
            <a:spLocks/>
          </p:cNvSpPr>
          <p:nvPr/>
        </p:nvSpPr>
        <p:spPr>
          <a:xfrm>
            <a:off x="466287" y="2822055"/>
            <a:ext cx="2850914" cy="505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Fraudulent transactions </a:t>
            </a:r>
            <a:r>
              <a:rPr lang="en-US" sz="1200" dirty="0">
                <a:ea typeface="+mn-lt"/>
                <a:cs typeface="+mn-lt"/>
              </a:rPr>
              <a:t>can occur later in time.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B0BC3-80B7-37B3-AA27-BB083D18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966" y="4785"/>
            <a:ext cx="2152068" cy="1325563"/>
          </a:xfrm>
        </p:spPr>
        <p:txBody>
          <a:bodyPr/>
          <a:lstStyle/>
          <a:p>
            <a:r>
              <a:rPr lang="en-US"/>
              <a:t>Smote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09E33-43FA-88AD-3CD3-007A7E72EF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6854" y="1527057"/>
            <a:ext cx="5304245" cy="30346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 dirty="0">
                <a:ea typeface="+mn-lt"/>
                <a:cs typeface="+mn-lt"/>
              </a:rPr>
              <a:t>Original size: 6362620</a:t>
            </a:r>
            <a:endParaRPr lang="en-US" dirty="0"/>
          </a:p>
          <a:p>
            <a:pPr algn="l"/>
            <a:r>
              <a:rPr lang="en-US" sz="1600" dirty="0">
                <a:ea typeface="+mn-lt"/>
                <a:cs typeface="+mn-lt"/>
              </a:rPr>
              <a:t>Original class distribution: [6354407    8213]</a:t>
            </a:r>
            <a:endParaRPr lang="en-US" sz="1600">
              <a:ea typeface="+mn-lt"/>
              <a:cs typeface="+mn-lt"/>
            </a:endParaRPr>
          </a:p>
          <a:p>
            <a:pPr algn="l"/>
            <a:r>
              <a:rPr lang="en-US" sz="1600" dirty="0">
                <a:ea typeface="+mn-lt"/>
                <a:cs typeface="+mn-lt"/>
              </a:rPr>
              <a:t>Balanced size: 12708814</a:t>
            </a:r>
          </a:p>
          <a:p>
            <a:pPr algn="l"/>
            <a:r>
              <a:rPr lang="en-US" sz="1600" dirty="0">
                <a:ea typeface="+mn-lt"/>
                <a:cs typeface="+mn-lt"/>
              </a:rPr>
              <a:t>Balanced class distribution: [6354407 6354407]</a:t>
            </a:r>
            <a:endParaRPr lang="en-US" sz="1600">
              <a:ea typeface="+mn-lt"/>
              <a:cs typeface="+mn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8D935A-F12E-4D5C-DE06-81AF5C1C75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11208" y="4180403"/>
            <a:ext cx="4031030" cy="40763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>
                <a:ea typeface="+mn-lt"/>
                <a:cs typeface="+mn-lt"/>
              </a:rPr>
              <a:t>Training set fraud distribution:</a:t>
            </a:r>
            <a:endParaRPr lang="en-US" sz="1600" dirty="0"/>
          </a:p>
          <a:p>
            <a:r>
              <a:rPr lang="en-US" sz="1600" dirty="0" err="1">
                <a:ea typeface="+mn-lt"/>
                <a:cs typeface="+mn-lt"/>
              </a:rPr>
              <a:t>isFraud</a:t>
            </a:r>
            <a:endParaRPr lang="en-US" sz="1600" dirty="0" err="1"/>
          </a:p>
          <a:p>
            <a:r>
              <a:rPr lang="en-US" sz="1600" dirty="0">
                <a:ea typeface="+mn-lt"/>
                <a:cs typeface="+mn-lt"/>
              </a:rPr>
              <a:t>0    5083570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1    5083481</a:t>
            </a:r>
            <a:endParaRPr lang="en-US" sz="16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AFFB63-8569-4FB9-7744-92A0375518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332636" y="4180403"/>
            <a:ext cx="4706219" cy="17421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/>
              <a:t>Test set fraud distribution:</a:t>
            </a:r>
          </a:p>
          <a:p>
            <a:r>
              <a:rPr lang="en-US" sz="1600" err="1"/>
              <a:t>isFraud</a:t>
            </a:r>
            <a:endParaRPr lang="en-US" sz="1600"/>
          </a:p>
          <a:p>
            <a:r>
              <a:rPr lang="en-US" sz="1600" dirty="0"/>
              <a:t>1    1270926</a:t>
            </a:r>
          </a:p>
          <a:p>
            <a:r>
              <a:rPr lang="en-US" sz="1600" dirty="0"/>
              <a:t>0    1270837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3831DC9-D549-EFA3-E83B-A3EB6BADD6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190EC64-1DD3-5A3C-EB76-EB4DAC3DAB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4</a:t>
            </a:fld>
            <a:endParaRPr lang="en-US" dirty="0"/>
          </a:p>
        </p:txBody>
      </p:sp>
      <p:pic>
        <p:nvPicPr>
          <p:cNvPr id="14" name="Picture 13" descr="Bank Data: SMOTE. This will be a short post before we… | by Zaki ...">
            <a:extLst>
              <a:ext uri="{FF2B5EF4-FFF2-40B4-BE49-F238E27FC236}">
                <a16:creationId xmlns:a16="http://schemas.microsoft.com/office/drawing/2014/main" id="{FE5E1B43-4328-50B5-BECC-F9A5EB9FC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387" y="1864820"/>
            <a:ext cx="5771907" cy="2848638"/>
          </a:xfrm>
          <a:prstGeom prst="rect">
            <a:avLst/>
          </a:prstGeom>
        </p:spPr>
      </p:pic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987BBE13-1D4F-ABE3-25C5-D5F7EDEF4377}"/>
              </a:ext>
            </a:extLst>
          </p:cNvPr>
          <p:cNvSpPr txBox="1">
            <a:spLocks/>
          </p:cNvSpPr>
          <p:nvPr/>
        </p:nvSpPr>
        <p:spPr>
          <a:xfrm>
            <a:off x="6386850" y="4795762"/>
            <a:ext cx="5127268" cy="505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SMOTE</a:t>
            </a:r>
            <a:r>
              <a:rPr lang="en-US" sz="1200" dirty="0">
                <a:ea typeface="+mn-lt"/>
                <a:cs typeface="+mn-lt"/>
              </a:rPr>
              <a:t> generates new, synthetic examples by creating points that lie between existing minority class samples.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41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456" y="589361"/>
            <a:ext cx="4111266" cy="563564"/>
          </a:xfrm>
        </p:spPr>
        <p:txBody>
          <a:bodyPr/>
          <a:lstStyle/>
          <a:p>
            <a:r>
              <a:rPr lang="en-US"/>
              <a:t>Gradient Boosting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824697" y="1446899"/>
            <a:ext cx="7740059" cy="5248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An ensemble of </a:t>
            </a:r>
            <a:r>
              <a:rPr lang="en-US" b="1" dirty="0">
                <a:ea typeface="+mn-lt"/>
                <a:cs typeface="+mn-lt"/>
              </a:rPr>
              <a:t>weak learners</a:t>
            </a:r>
            <a:r>
              <a:rPr lang="en-US" dirty="0">
                <a:ea typeface="+mn-lt"/>
                <a:cs typeface="+mn-lt"/>
              </a:rPr>
              <a:t> (usually decision trees) in a sequential manner, where each new tree corrects the errors of the previous ones.</a:t>
            </a:r>
            <a:endParaRPr lang="en-US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Picture 10" descr="A diagram of a tree&#10;&#10;Description automatically generated">
            <a:extLst>
              <a:ext uri="{FF2B5EF4-FFF2-40B4-BE49-F238E27FC236}">
                <a16:creationId xmlns:a16="http://schemas.microsoft.com/office/drawing/2014/main" id="{9251575B-05DE-0FFF-6061-AA73010B4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276" y="2188472"/>
            <a:ext cx="7500316" cy="408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40" y="213900"/>
            <a:ext cx="5111750" cy="1204912"/>
          </a:xfrm>
        </p:spPr>
        <p:txBody>
          <a:bodyPr/>
          <a:lstStyle/>
          <a:p>
            <a:r>
              <a:rPr lang="en-US"/>
              <a:t>Gradient boosting:</a:t>
            </a:r>
            <a:br>
              <a:rPr lang="en-US"/>
            </a:br>
            <a:r>
              <a:rPr lang="en-US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641" y="1330600"/>
            <a:ext cx="4614794" cy="67523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500" dirty="0">
                <a:ea typeface="+mn-lt"/>
                <a:cs typeface="+mn-lt"/>
              </a:rPr>
              <a:t>The first tasks was predicting the "isFraud</a:t>
            </a:r>
            <a:r>
              <a:rPr lang="en-US" sz="1500">
                <a:ea typeface="+mn-lt"/>
                <a:cs typeface="+mn-lt"/>
              </a:rPr>
              <a:t>" for classifying </a:t>
            </a:r>
            <a:r>
              <a:rPr lang="en-US" sz="1500" dirty="0">
                <a:ea typeface="+mn-lt"/>
                <a:cs typeface="+mn-lt"/>
              </a:rPr>
              <a:t>whether a transaction is fraudulent or not.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8DBEEF9-C03F-97CF-BB56-4CB6DEF00040}"/>
              </a:ext>
            </a:extLst>
          </p:cNvPr>
          <p:cNvSpPr txBox="1">
            <a:spLocks/>
          </p:cNvSpPr>
          <p:nvPr/>
        </p:nvSpPr>
        <p:spPr>
          <a:xfrm>
            <a:off x="6969954" y="644255"/>
            <a:ext cx="3896968" cy="686283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Training AUC: 0.9859523704861836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Test AUC: 0.985910997563826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D51299-47BA-A6B0-C8FF-ED26A862E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402" y="1331539"/>
            <a:ext cx="4875282" cy="3218485"/>
          </a:xfrm>
          <a:prstGeom prst="rect">
            <a:avLst/>
          </a:prstGeom>
        </p:spPr>
      </p:pic>
      <p:pic>
        <p:nvPicPr>
          <p:cNvPr id="10" name="Picture 9" descr="A graph of a function&#10;&#10;Description automatically generated">
            <a:extLst>
              <a:ext uri="{FF2B5EF4-FFF2-40B4-BE49-F238E27FC236}">
                <a16:creationId xmlns:a16="http://schemas.microsoft.com/office/drawing/2014/main" id="{A5B799AE-894B-E249-470E-24EE68BEB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79" y="4122323"/>
            <a:ext cx="3225110" cy="2589006"/>
          </a:xfrm>
          <a:prstGeom prst="rect">
            <a:avLst/>
          </a:prstGeom>
        </p:spPr>
      </p:pic>
      <p:pic>
        <p:nvPicPr>
          <p:cNvPr id="12" name="Picture 11" descr="A graph of a curve&#10;&#10;Description automatically generated">
            <a:extLst>
              <a:ext uri="{FF2B5EF4-FFF2-40B4-BE49-F238E27FC236}">
                <a16:creationId xmlns:a16="http://schemas.microsoft.com/office/drawing/2014/main" id="{D0C4085F-CF98-1E6F-07F9-8994EEF02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88" y="4122323"/>
            <a:ext cx="3225111" cy="2589006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BF1DC70-1DDB-4608-FBB5-9F2FBB979045}"/>
              </a:ext>
            </a:extLst>
          </p:cNvPr>
          <p:cNvSpPr txBox="1">
            <a:spLocks/>
          </p:cNvSpPr>
          <p:nvPr/>
        </p:nvSpPr>
        <p:spPr>
          <a:xfrm>
            <a:off x="7326840" y="4676103"/>
            <a:ext cx="4159915" cy="21826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har char="•"/>
            </a:pPr>
            <a:r>
              <a:rPr lang="en-US" dirty="0"/>
              <a:t>Reduced gap between training and validation set: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spc="50" dirty="0">
                <a:solidFill>
                  <a:srgbClr val="404040"/>
                </a:solidFill>
              </a:rPr>
              <a:t>reduced </a:t>
            </a:r>
            <a:r>
              <a:rPr lang="en-US" dirty="0">
                <a:solidFill>
                  <a:srgbClr val="404040"/>
                </a:solidFill>
              </a:rPr>
              <a:t>overfitting</a:t>
            </a:r>
            <a:endParaRPr lang="en-US" spc="0" dirty="0">
              <a:solidFill>
                <a:srgbClr val="898989"/>
              </a:solidFill>
            </a:endParaRPr>
          </a:p>
          <a:p>
            <a:pPr marL="285750" indent="-285750">
              <a:buChar char="•"/>
            </a:pPr>
            <a:r>
              <a:rPr lang="en-US" dirty="0">
                <a:solidFill>
                  <a:srgbClr val="404040"/>
                </a:solidFill>
              </a:rPr>
              <a:t>Validation score increases: better</a:t>
            </a:r>
            <a:r>
              <a:rPr lang="en-US" spc="50" dirty="0">
                <a:solidFill>
                  <a:srgbClr val="404040"/>
                </a:solidFill>
              </a:rPr>
              <a:t> generalization</a:t>
            </a:r>
            <a:r>
              <a:rPr lang="en-US" dirty="0">
                <a:solidFill>
                  <a:srgbClr val="404040"/>
                </a:solidFill>
              </a:rPr>
              <a:t>.</a:t>
            </a:r>
            <a:endParaRPr lang="en-US" spc="0" dirty="0">
              <a:solidFill>
                <a:srgbClr val="898989"/>
              </a:solidFill>
            </a:endParaRPr>
          </a:p>
          <a:p>
            <a:pPr marL="285750" indent="-285750">
              <a:buChar char="•"/>
            </a:pP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8FDBD0A-B436-1B13-CB3C-0C30E1F588FC}"/>
              </a:ext>
            </a:extLst>
          </p:cNvPr>
          <p:cNvSpPr txBox="1">
            <a:spLocks/>
          </p:cNvSpPr>
          <p:nvPr/>
        </p:nvSpPr>
        <p:spPr>
          <a:xfrm>
            <a:off x="962302" y="1869522"/>
            <a:ext cx="5288446" cy="21440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              precision    recall  f1-score   support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           0        0.92      0.94      0.93   1270837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   1        0.94      0.92      0.93   1270926</a:t>
            </a:r>
            <a:endParaRPr lang="en-US" dirty="0"/>
          </a:p>
          <a:p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  accuracy                             0.93   2541763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512074"/>
            <a:ext cx="5111750" cy="1204912"/>
          </a:xfrm>
        </p:spPr>
        <p:txBody>
          <a:bodyPr/>
          <a:lstStyle/>
          <a:p>
            <a:r>
              <a:rPr lang="en-US"/>
              <a:t>Gradient boosting:</a:t>
            </a:r>
            <a:br>
              <a:rPr lang="en-US"/>
            </a:br>
            <a:r>
              <a:rPr lang="en-US"/>
              <a:t>PErformance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  <p:pic>
        <p:nvPicPr>
          <p:cNvPr id="13" name="Picture 12" descr="A graph of calibration curve&#10;&#10;Description automatically generated">
            <a:extLst>
              <a:ext uri="{FF2B5EF4-FFF2-40B4-BE49-F238E27FC236}">
                <a16:creationId xmlns:a16="http://schemas.microsoft.com/office/drawing/2014/main" id="{3771A757-E1D3-C070-12C7-636CCBC24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85" y="1869733"/>
            <a:ext cx="4831587" cy="38805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403D7D-9F22-9F2B-39C3-CD833FBAB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988" y="1869733"/>
            <a:ext cx="5820378" cy="3880534"/>
          </a:xfrm>
          <a:prstGeom prst="rect">
            <a:avLst/>
          </a:prstGeom>
        </p:spPr>
      </p:pic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A1B9010-DC29-506A-928C-524017EBC47A}"/>
              </a:ext>
            </a:extLst>
          </p:cNvPr>
          <p:cNvSpPr txBox="1">
            <a:spLocks/>
          </p:cNvSpPr>
          <p:nvPr/>
        </p:nvSpPr>
        <p:spPr>
          <a:xfrm>
            <a:off x="734546" y="5847129"/>
            <a:ext cx="4972939" cy="4956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The model predicts accurate classifications and has reliable confidence scores for those predictions.</a:t>
            </a:r>
            <a:endParaRPr lang="en-US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92721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600B4-5BE8-447C-8531-6CD75CB4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2">
            <a:extLst>
              <a:ext uri="{FF2B5EF4-FFF2-40B4-BE49-F238E27FC236}">
                <a16:creationId xmlns:a16="http://schemas.microsoft.com/office/drawing/2014/main" id="{4DDB649F-8389-31F4-83A1-72F3B3C9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Isolation Forest</a:t>
            </a:r>
          </a:p>
        </p:txBody>
      </p:sp>
      <p:pic>
        <p:nvPicPr>
          <p:cNvPr id="14" name="Picture 13" descr="What are Isolation Forests?. Quick Recap for the Best Outlier… | by Nigar  Esra Kın | Teknasyon Engineering">
            <a:extLst>
              <a:ext uri="{FF2B5EF4-FFF2-40B4-BE49-F238E27FC236}">
                <a16:creationId xmlns:a16="http://schemas.microsoft.com/office/drawing/2014/main" id="{DD096783-D09F-3FF9-2EE9-D4E5397BB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328" y="1841246"/>
            <a:ext cx="9639778" cy="3831405"/>
          </a:xfrm>
          <a:prstGeom prst="rect">
            <a:avLst/>
          </a:prstGeom>
        </p:spPr>
      </p:pic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7A572AA-2CDB-77C0-846F-16C3398F1152}"/>
              </a:ext>
            </a:extLst>
          </p:cNvPr>
          <p:cNvSpPr txBox="1">
            <a:spLocks/>
          </p:cNvSpPr>
          <p:nvPr/>
        </p:nvSpPr>
        <p:spPr>
          <a:xfrm>
            <a:off x="1409736" y="1593433"/>
            <a:ext cx="7635115" cy="4956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In </a:t>
            </a:r>
            <a:r>
              <a:rPr lang="en-US" sz="1200" b="1" dirty="0">
                <a:ea typeface="+mn-lt"/>
                <a:cs typeface="+mn-lt"/>
              </a:rPr>
              <a:t>Isolation Forest</a:t>
            </a:r>
            <a:r>
              <a:rPr lang="en-US" sz="1200" dirty="0">
                <a:ea typeface="+mn-lt"/>
                <a:cs typeface="+mn-lt"/>
              </a:rPr>
              <a:t>, the results from all trees are combined by averaging the path lengths for each data point.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923C7-5010-4C4F-A932-4BDA0B62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6160508E-1950-F30C-8268-3F3CD914E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512074"/>
            <a:ext cx="5111750" cy="1204912"/>
          </a:xfrm>
        </p:spPr>
        <p:txBody>
          <a:bodyPr/>
          <a:lstStyle/>
          <a:p>
            <a:pPr algn="l"/>
            <a:r>
              <a:rPr lang="en-US"/>
              <a:t>Isolation forest:</a:t>
            </a:r>
            <a:br>
              <a:rPr lang="en-US"/>
            </a:br>
            <a:r>
              <a:rPr lang="en-US"/>
              <a:t>PErformance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34E6D8-D740-1032-E846-AB937ABE1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6" y="1573556"/>
            <a:ext cx="6459054" cy="5868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500" dirty="0">
                <a:ea typeface="+mj-lt"/>
                <a:cs typeface="+mj-lt"/>
              </a:rPr>
              <a:t>The second task used anomaly detection</a:t>
            </a:r>
            <a:r>
              <a:rPr lang="en-US" sz="1500" b="1" dirty="0">
                <a:ea typeface="+mj-lt"/>
                <a:cs typeface="+mj-lt"/>
              </a:rPr>
              <a:t> </a:t>
            </a:r>
            <a:r>
              <a:rPr lang="en-US" sz="1500" dirty="0">
                <a:ea typeface="+mj-lt"/>
                <a:cs typeface="+mj-lt"/>
              </a:rPr>
              <a:t>to identify whether a transaction is fraudulent or not.</a:t>
            </a:r>
            <a:endParaRPr lang="en-US" dirty="0"/>
          </a:p>
        </p:txBody>
      </p:sp>
      <p:pic>
        <p:nvPicPr>
          <p:cNvPr id="2" name="Picture 1" descr="A blue squares with numbers&#10;&#10;Description automatically generated">
            <a:extLst>
              <a:ext uri="{FF2B5EF4-FFF2-40B4-BE49-F238E27FC236}">
                <a16:creationId xmlns:a16="http://schemas.microsoft.com/office/drawing/2014/main" id="{4C7B2B83-A32B-F23D-3EB9-5E895D31A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921" y="2164646"/>
            <a:ext cx="4716081" cy="401412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CB2162-E708-E55E-1B32-E1AD2E7E6AA9}"/>
              </a:ext>
            </a:extLst>
          </p:cNvPr>
          <p:cNvSpPr txBox="1">
            <a:spLocks/>
          </p:cNvSpPr>
          <p:nvPr/>
        </p:nvSpPr>
        <p:spPr>
          <a:xfrm>
            <a:off x="164096" y="2459019"/>
            <a:ext cx="5185839" cy="1956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>
                <a:ea typeface="+mj-lt"/>
                <a:cs typeface="+mj-lt"/>
              </a:rPr>
              <a:t>              precision    recall  f1-score   support </a:t>
            </a:r>
            <a:endParaRPr lang="en-US"/>
          </a:p>
          <a:p>
            <a:pPr algn="l"/>
            <a:endParaRPr lang="en-US"/>
          </a:p>
          <a:p>
            <a:pPr algn="l"/>
            <a:r>
              <a:rPr lang="en-US" sz="1500"/>
              <a:t> </a:t>
            </a:r>
            <a:r>
              <a:rPr lang="en-US" sz="1500">
                <a:ea typeface="+mj-lt"/>
                <a:cs typeface="+mj-lt"/>
              </a:rPr>
              <a:t>          0       1.00      0.90      0.95   1270904 </a:t>
            </a:r>
            <a:endParaRPr lang="en-US"/>
          </a:p>
          <a:p>
            <a:pPr algn="l"/>
            <a:r>
              <a:rPr lang="en-US" sz="1500">
                <a:ea typeface="+mj-lt"/>
                <a:cs typeface="+mj-lt"/>
              </a:rPr>
              <a:t>           1       0.01      0.66      0.02      1620 </a:t>
            </a:r>
            <a:endParaRPr lang="en-US"/>
          </a:p>
          <a:p>
            <a:pPr algn="l"/>
            <a:r>
              <a:rPr lang="en-US" sz="1500">
                <a:ea typeface="+mj-lt"/>
                <a:cs typeface="+mj-lt"/>
              </a:rPr>
              <a:t>    accuracy                           0.90   1272524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9A882C-32E7-76A3-BF28-8EC14B55A8B4}"/>
              </a:ext>
            </a:extLst>
          </p:cNvPr>
          <p:cNvSpPr txBox="1">
            <a:spLocks/>
          </p:cNvSpPr>
          <p:nvPr/>
        </p:nvSpPr>
        <p:spPr>
          <a:xfrm>
            <a:off x="328071" y="4175930"/>
            <a:ext cx="5378751" cy="5868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>
                <a:ea typeface="+mj-lt"/>
                <a:cs typeface="+mj-lt"/>
              </a:rPr>
              <a:t> "Normal" class dominates the predictions (low precision, but high recall). Assumes many instances as fraud.</a:t>
            </a:r>
          </a:p>
        </p:txBody>
      </p:sp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923C7-5010-4C4F-A932-4BDA0B62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6160508E-1950-F30C-8268-3F3CD914E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512074"/>
            <a:ext cx="5111750" cy="1204912"/>
          </a:xfrm>
        </p:spPr>
        <p:txBody>
          <a:bodyPr/>
          <a:lstStyle/>
          <a:p>
            <a:pPr algn="l"/>
            <a:r>
              <a:rPr lang="en-US"/>
              <a:t>Isolation forest:</a:t>
            </a:r>
            <a:br>
              <a:rPr lang="en-US"/>
            </a:br>
            <a:r>
              <a:rPr lang="en-US"/>
              <a:t>PErformance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9A882C-32E7-76A3-BF28-8EC14B55A8B4}"/>
              </a:ext>
            </a:extLst>
          </p:cNvPr>
          <p:cNvSpPr txBox="1">
            <a:spLocks/>
          </p:cNvSpPr>
          <p:nvPr/>
        </p:nvSpPr>
        <p:spPr>
          <a:xfrm>
            <a:off x="6260096" y="5767449"/>
            <a:ext cx="5378751" cy="5868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>
                <a:ea typeface="+mj-lt"/>
                <a:cs typeface="+mj-lt"/>
              </a:rPr>
              <a:t>Visualization of the anomaly scores given by the model.</a:t>
            </a:r>
          </a:p>
        </p:txBody>
      </p:sp>
      <p:pic>
        <p:nvPicPr>
          <p:cNvPr id="7" name="Picture 6" descr="A diagram of red and blue dots&#10;&#10;Description automatically generated">
            <a:extLst>
              <a:ext uri="{FF2B5EF4-FFF2-40B4-BE49-F238E27FC236}">
                <a16:creationId xmlns:a16="http://schemas.microsoft.com/office/drawing/2014/main" id="{E8029803-FB31-32F5-281F-823903CD7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827" y="1865270"/>
            <a:ext cx="5673887" cy="3850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D67BC5-088A-D966-40FD-EFB3BC218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47" y="1855988"/>
            <a:ext cx="5758406" cy="385979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0361EC5-200B-FACF-12EB-899463A5D3B2}"/>
              </a:ext>
            </a:extLst>
          </p:cNvPr>
          <p:cNvSpPr txBox="1">
            <a:spLocks/>
          </p:cNvSpPr>
          <p:nvPr/>
        </p:nvSpPr>
        <p:spPr>
          <a:xfrm>
            <a:off x="492045" y="5767448"/>
            <a:ext cx="5378751" cy="5868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>
                <a:ea typeface="+mj-lt"/>
                <a:cs typeface="+mj-lt"/>
              </a:rPr>
              <a:t>Most data points have positive anomaly scores, indicating they are normal. Same distribution denotes reduced risk of overfitting.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11646A-168B-19DD-1600-BE4102AA2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87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923C7-5010-4C4F-A932-4BDA0B62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6160508E-1950-F30C-8268-3F3CD914E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512074"/>
            <a:ext cx="5111750" cy="1204912"/>
          </a:xfrm>
        </p:spPr>
        <p:txBody>
          <a:bodyPr/>
          <a:lstStyle/>
          <a:p>
            <a:pPr algn="l"/>
            <a:r>
              <a:rPr lang="en-US"/>
              <a:t>Isolation forest:</a:t>
            </a:r>
            <a:br>
              <a:rPr lang="en-US"/>
            </a:br>
            <a:r>
              <a:rPr lang="en-US"/>
              <a:t>PErformance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9A882C-32E7-76A3-BF28-8EC14B55A8B4}"/>
              </a:ext>
            </a:extLst>
          </p:cNvPr>
          <p:cNvSpPr txBox="1">
            <a:spLocks/>
          </p:cNvSpPr>
          <p:nvPr/>
        </p:nvSpPr>
        <p:spPr>
          <a:xfrm>
            <a:off x="6424070" y="6133981"/>
            <a:ext cx="5378751" cy="5868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>
                <a:ea typeface="+mj-lt"/>
                <a:cs typeface="+mj-lt"/>
              </a:rPr>
              <a:t>Fraudulent and normal transactions appear randomly distributed and give no valuable information, but it is the most important feature for the model.</a:t>
            </a:r>
            <a:endParaRPr lang="en-US" sz="12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0361EC5-200B-FACF-12EB-899463A5D3B2}"/>
              </a:ext>
            </a:extLst>
          </p:cNvPr>
          <p:cNvSpPr txBox="1">
            <a:spLocks/>
          </p:cNvSpPr>
          <p:nvPr/>
        </p:nvSpPr>
        <p:spPr>
          <a:xfrm>
            <a:off x="472755" y="4831827"/>
            <a:ext cx="5378751" cy="5868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>
                <a:ea typeface="+mj-lt"/>
                <a:cs typeface="+mj-lt"/>
              </a:rPr>
              <a:t>Fraudulent transactions tend to involve larger amounts, but in dataset we establisehed otherwise.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2" name="Picture 1" descr="A graph of red and blue dots&#10;&#10;Description automatically generated">
            <a:extLst>
              <a:ext uri="{FF2B5EF4-FFF2-40B4-BE49-F238E27FC236}">
                <a16:creationId xmlns:a16="http://schemas.microsoft.com/office/drawing/2014/main" id="{30EDF960-0609-834A-6F53-A2A49A723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00" y="1765741"/>
            <a:ext cx="5564049" cy="2902112"/>
          </a:xfrm>
          <a:prstGeom prst="rect">
            <a:avLst/>
          </a:prstGeom>
        </p:spPr>
      </p:pic>
      <p:pic>
        <p:nvPicPr>
          <p:cNvPr id="4" name="Picture 3" descr="A diagram of red and blue dots&#10;&#10;Description automatically generated">
            <a:extLst>
              <a:ext uri="{FF2B5EF4-FFF2-40B4-BE49-F238E27FC236}">
                <a16:creationId xmlns:a16="http://schemas.microsoft.com/office/drawing/2014/main" id="{3EBF79BD-863B-EA79-D3DD-61DB3D6C6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874" y="3342853"/>
            <a:ext cx="4832552" cy="2660851"/>
          </a:xfrm>
          <a:prstGeom prst="rect">
            <a:avLst/>
          </a:prstGeom>
        </p:spPr>
      </p:pic>
      <p:pic>
        <p:nvPicPr>
          <p:cNvPr id="10" name="Picture 9" descr="A graph of blue rectangular bars with white text&#10;&#10;Description automatically generated">
            <a:extLst>
              <a:ext uri="{FF2B5EF4-FFF2-40B4-BE49-F238E27FC236}">
                <a16:creationId xmlns:a16="http://schemas.microsoft.com/office/drawing/2014/main" id="{8A5CA632-77EA-A8A9-E1AD-B15DEB6D5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068" y="262238"/>
            <a:ext cx="4283839" cy="289970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43A34D-9EA6-7E3A-7614-4ABF7A46FCC9}"/>
              </a:ext>
            </a:extLst>
          </p:cNvPr>
          <p:cNvSpPr txBox="1">
            <a:spLocks/>
          </p:cNvSpPr>
          <p:nvPr/>
        </p:nvSpPr>
        <p:spPr>
          <a:xfrm>
            <a:off x="2343995" y="5844611"/>
            <a:ext cx="5378751" cy="5868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>
                <a:ea typeface="+mj-lt"/>
                <a:cs typeface="+mj-lt"/>
              </a:rPr>
              <a:t>Model doesn't perform well.</a:t>
            </a:r>
          </a:p>
        </p:txBody>
      </p:sp>
    </p:spTree>
    <p:extLst>
      <p:ext uri="{BB962C8B-B14F-4D97-AF65-F5344CB8AC3E}">
        <p14:creationId xmlns:p14="http://schemas.microsoft.com/office/powerpoint/2010/main" val="501403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6E94D4DF-24E6-4758-8701-2C20AC2BF2DD}" vid="{D9C778EE-A573-4D68-89BA-A3DB5F810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BFCE94-6EC9-4D8E-89B6-C22DE7AD70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1845F9-C5F4-4AA5-BA9E-EC2182E914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C8B084D-D430-4822-B3CB-DEADB2E7A5F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805</Words>
  <Application>Microsoft Office PowerPoint</Application>
  <PresentationFormat>Widescreen</PresentationFormat>
  <Paragraphs>290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Monoline</vt:lpstr>
      <vt:lpstr>Methods of Fraud Detection in Mobile Transactions: Gradient Boosting and Isolation Forest</vt:lpstr>
      <vt:lpstr>Synthetic Financial Mobile Money Transactions Dataset (PaySym Dataset)</vt:lpstr>
      <vt:lpstr>Boxplots</vt:lpstr>
      <vt:lpstr>Smote</vt:lpstr>
      <vt:lpstr>Gradient Boosting</vt:lpstr>
      <vt:lpstr>Gradient boosting: PErformance</vt:lpstr>
      <vt:lpstr>Gradient boosting: PErformance</vt:lpstr>
      <vt:lpstr>Isolation Forest</vt:lpstr>
      <vt:lpstr>Isolation forest: PErformance</vt:lpstr>
      <vt:lpstr>Isolation forest: PErformance</vt:lpstr>
      <vt:lpstr>Isolation forest: PErformance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489</cp:revision>
  <dcterms:created xsi:type="dcterms:W3CDTF">2024-12-17T14:44:19Z</dcterms:created>
  <dcterms:modified xsi:type="dcterms:W3CDTF">2024-12-17T19:08:04Z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